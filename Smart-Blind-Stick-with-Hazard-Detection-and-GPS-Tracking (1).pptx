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arlow Bold" panose="020B0604020202020204" charset="0"/>
      <p:regular r:id="rId13"/>
    </p:embeddedFont>
    <p:embeddedFont>
      <p:font typeface="Montserrat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7514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910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Smart Blind Stick with Hazard Detection and GPS Tracking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517675"/>
            <a:ext cx="4722763" cy="2771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Year Applied Electromechanics Engineering Project · Department of </a:t>
            </a:r>
            <a:r>
              <a:rPr lang="en-US" sz="110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Computer Engineering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4453235"/>
            <a:ext cx="1594247" cy="266402"/>
          </a:xfrm>
          <a:prstGeom prst="roundRect">
            <a:avLst>
              <a:gd name="adj" fmla="val 2145"/>
            </a:avLst>
          </a:prstGeom>
          <a:solidFill>
            <a:srgbClr val="F9D2EB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4495726"/>
            <a:ext cx="188133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ASSISTIVE TECHNOLOGY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161208" y="4448473"/>
            <a:ext cx="1437010" cy="275927"/>
          </a:xfrm>
          <a:prstGeom prst="roundRect">
            <a:avLst>
              <a:gd name="adj" fmla="val 2071"/>
            </a:avLst>
          </a:prstGeom>
          <a:noFill/>
          <a:ln w="4763">
            <a:solidFill>
              <a:srgbClr val="E85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51025" y="4495726"/>
            <a:ext cx="171457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851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EMBEDDED SYSTEMS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669060" y="4448473"/>
            <a:ext cx="1422722" cy="275927"/>
          </a:xfrm>
          <a:prstGeom prst="roundRect">
            <a:avLst>
              <a:gd name="adj" fmla="val 2071"/>
            </a:avLst>
          </a:prstGeom>
          <a:noFill/>
          <a:ln w="4763">
            <a:solidFill>
              <a:srgbClr val="E85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58878" y="4495726"/>
            <a:ext cx="170028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851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ARDUINO PLATFORM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7379" y="415900"/>
            <a:ext cx="4738241" cy="741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Problem: Getting Around Without Seeing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917379" y="1306041"/>
            <a:ext cx="4738241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 who cannot see well face daily dangers. It can make it harder to stay safe and independent.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17379" y="1766218"/>
            <a:ext cx="4738241" cy="665931"/>
          </a:xfrm>
          <a:prstGeom prst="roundRect">
            <a:avLst>
              <a:gd name="adj" fmla="val 858"/>
            </a:avLst>
          </a:prstGeom>
          <a:solidFill>
            <a:srgbClr val="F9D2EB"/>
          </a:solidFill>
          <a:ln w="4763">
            <a:solidFill>
              <a:srgbClr val="DFB8D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40758" y="1889596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Running Into Things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040758" y="2134493"/>
            <a:ext cx="44914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Walls, poles, and furniture can cause injuries without warning.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917379" y="2531343"/>
            <a:ext cx="4738241" cy="665931"/>
          </a:xfrm>
          <a:prstGeom prst="roundRect">
            <a:avLst>
              <a:gd name="adj" fmla="val 858"/>
            </a:avLst>
          </a:prstGeom>
          <a:solidFill>
            <a:srgbClr val="F9D2EB"/>
          </a:solidFill>
          <a:ln w="4763">
            <a:solidFill>
              <a:srgbClr val="DFB8D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40758" y="2654722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Water on the Ground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040758" y="2899618"/>
            <a:ext cx="44914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Puddles and wet floors can lead to slips and falls.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17379" y="3296469"/>
            <a:ext cx="4738241" cy="665931"/>
          </a:xfrm>
          <a:prstGeom prst="roundRect">
            <a:avLst>
              <a:gd name="adj" fmla="val 858"/>
            </a:avLst>
          </a:prstGeom>
          <a:solidFill>
            <a:srgbClr val="F9D2EB"/>
          </a:solidFill>
          <a:ln w="4763">
            <a:solidFill>
              <a:srgbClr val="DFB8D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40758" y="3419847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Holes &amp; Stairs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040758" y="3664744"/>
            <a:ext cx="44914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Drop-offs and stairs are hard to notice with a regular cane.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17379" y="4061594"/>
            <a:ext cx="4738241" cy="665931"/>
          </a:xfrm>
          <a:prstGeom prst="roundRect">
            <a:avLst>
              <a:gd name="adj" fmla="val 858"/>
            </a:avLst>
          </a:prstGeom>
          <a:solidFill>
            <a:srgbClr val="F9D2EB"/>
          </a:solidFill>
          <a:ln w="4763">
            <a:solidFill>
              <a:srgbClr val="DFB8D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40758" y="4184972"/>
            <a:ext cx="1662038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 Way to Track Location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040758" y="4429869"/>
            <a:ext cx="4491484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Families cannot find users quickly if they get lost or need help.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4865"/>
            <a:ext cx="346970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Project Objectives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46187"/>
            <a:ext cx="86089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simple goals guide this prototype.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520428"/>
            <a:ext cx="4024685" cy="863947"/>
          </a:xfrm>
          <a:prstGeom prst="roundRect">
            <a:avLst>
              <a:gd name="adj" fmla="val 793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FB8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506141"/>
            <a:ext cx="4024685" cy="57150"/>
          </a:xfrm>
          <a:prstGeom prst="roundRect">
            <a:avLst>
              <a:gd name="adj" fmla="val 10000"/>
            </a:avLst>
          </a:prstGeom>
          <a:solidFill>
            <a:srgbClr val="E851B2"/>
          </a:solidFill>
          <a:ln/>
        </p:spPr>
      </p:sp>
      <p:sp>
        <p:nvSpPr>
          <p:cNvPr id="6" name="Shape 4"/>
          <p:cNvSpPr/>
          <p:nvPr/>
        </p:nvSpPr>
        <p:spPr>
          <a:xfrm>
            <a:off x="2327672" y="1339676"/>
            <a:ext cx="361504" cy="361504"/>
          </a:xfrm>
          <a:prstGeom prst="roundRect">
            <a:avLst>
              <a:gd name="adj" fmla="val 158090"/>
            </a:avLst>
          </a:prstGeom>
          <a:solidFill>
            <a:srgbClr val="E851B2"/>
          </a:solidFill>
          <a:ln/>
        </p:spPr>
      </p:sp>
      <p:sp>
        <p:nvSpPr>
          <p:cNvPr id="7" name="Text 5"/>
          <p:cNvSpPr/>
          <p:nvPr/>
        </p:nvSpPr>
        <p:spPr>
          <a:xfrm>
            <a:off x="2436093" y="1430015"/>
            <a:ext cx="144587" cy="180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882" y="1821656"/>
            <a:ext cx="1783184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Spot Obstacles Right Away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0882" y="2071315"/>
            <a:ext cx="375515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Little sensors find objects 2–400 cm away.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23197" y="1520428"/>
            <a:ext cx="4024685" cy="863947"/>
          </a:xfrm>
          <a:prstGeom prst="roundRect">
            <a:avLst>
              <a:gd name="adj" fmla="val 793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FB8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3197" y="1506141"/>
            <a:ext cx="4024685" cy="57150"/>
          </a:xfrm>
          <a:prstGeom prst="roundRect">
            <a:avLst>
              <a:gd name="adj" fmla="val 10000"/>
            </a:avLst>
          </a:prstGeom>
          <a:solidFill>
            <a:srgbClr val="E85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6454750" y="1339676"/>
            <a:ext cx="361504" cy="361504"/>
          </a:xfrm>
          <a:prstGeom prst="roundRect">
            <a:avLst>
              <a:gd name="adj" fmla="val 158090"/>
            </a:avLst>
          </a:prstGeom>
          <a:solidFill>
            <a:srgbClr val="E85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563171" y="1430015"/>
            <a:ext cx="144587" cy="180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7961" y="1821656"/>
            <a:ext cx="1825154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Notice Water on the Ground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7961" y="2071315"/>
            <a:ext cx="375515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sensor spots puddles before the cane touches them.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6119" y="2667521"/>
            <a:ext cx="4024685" cy="863947"/>
          </a:xfrm>
          <a:prstGeom prst="roundRect">
            <a:avLst>
              <a:gd name="adj" fmla="val 793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FB8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6119" y="2653233"/>
            <a:ext cx="4024685" cy="57150"/>
          </a:xfrm>
          <a:prstGeom prst="roundRect">
            <a:avLst>
              <a:gd name="adj" fmla="val 10000"/>
            </a:avLst>
          </a:prstGeom>
          <a:solidFill>
            <a:srgbClr val="E851B2"/>
          </a:solidFill>
          <a:ln/>
        </p:spPr>
      </p:sp>
      <p:sp>
        <p:nvSpPr>
          <p:cNvPr id="18" name="Shape 16"/>
          <p:cNvSpPr/>
          <p:nvPr/>
        </p:nvSpPr>
        <p:spPr>
          <a:xfrm>
            <a:off x="2327672" y="2486769"/>
            <a:ext cx="361504" cy="361504"/>
          </a:xfrm>
          <a:prstGeom prst="roundRect">
            <a:avLst>
              <a:gd name="adj" fmla="val 158090"/>
            </a:avLst>
          </a:prstGeom>
          <a:solidFill>
            <a:srgbClr val="E851B2"/>
          </a:solidFill>
          <a:ln/>
        </p:spPr>
      </p:sp>
      <p:sp>
        <p:nvSpPr>
          <p:cNvPr id="19" name="Text 17"/>
          <p:cNvSpPr/>
          <p:nvPr/>
        </p:nvSpPr>
        <p:spPr>
          <a:xfrm>
            <a:off x="2436093" y="2577108"/>
            <a:ext cx="144587" cy="180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882" y="2968749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Find Holes and Stairs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882" y="3218408"/>
            <a:ext cx="375515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sensor pointing down spots sudden drop-offs.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23197" y="2667521"/>
            <a:ext cx="4024685" cy="863947"/>
          </a:xfrm>
          <a:prstGeom prst="roundRect">
            <a:avLst>
              <a:gd name="adj" fmla="val 793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FB8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3197" y="2653233"/>
            <a:ext cx="4024685" cy="57150"/>
          </a:xfrm>
          <a:prstGeom prst="roundRect">
            <a:avLst>
              <a:gd name="adj" fmla="val 10000"/>
            </a:avLst>
          </a:prstGeom>
          <a:solidFill>
            <a:srgbClr val="E851B2"/>
          </a:solidFill>
          <a:ln/>
        </p:spPr>
      </p:sp>
      <p:sp>
        <p:nvSpPr>
          <p:cNvPr id="24" name="Shape 22"/>
          <p:cNvSpPr/>
          <p:nvPr/>
        </p:nvSpPr>
        <p:spPr>
          <a:xfrm>
            <a:off x="6454750" y="2486769"/>
            <a:ext cx="361504" cy="361504"/>
          </a:xfrm>
          <a:prstGeom prst="roundRect">
            <a:avLst>
              <a:gd name="adj" fmla="val 158090"/>
            </a:avLst>
          </a:prstGeom>
          <a:solidFill>
            <a:srgbClr val="E851B2"/>
          </a:solidFill>
          <a:ln/>
        </p:spPr>
      </p:sp>
      <p:sp>
        <p:nvSpPr>
          <p:cNvPr id="25" name="Text 23"/>
          <p:cNvSpPr/>
          <p:nvPr/>
        </p:nvSpPr>
        <p:spPr>
          <a:xfrm>
            <a:off x="6563171" y="2577108"/>
            <a:ext cx="144587" cy="180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7961" y="2968749"/>
            <a:ext cx="1609427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Give Two Kinds of Alerts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7961" y="3218408"/>
            <a:ext cx="375515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buzzer and a vibrating motor give sound and touch alerts.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6119" y="3814614"/>
            <a:ext cx="4024685" cy="863947"/>
          </a:xfrm>
          <a:prstGeom prst="roundRect">
            <a:avLst>
              <a:gd name="adj" fmla="val 793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FB8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6119" y="3800326"/>
            <a:ext cx="4024685" cy="57150"/>
          </a:xfrm>
          <a:prstGeom prst="roundRect">
            <a:avLst>
              <a:gd name="adj" fmla="val 10000"/>
            </a:avLst>
          </a:prstGeom>
          <a:solidFill>
            <a:srgbClr val="E851B2"/>
          </a:solidFill>
          <a:ln/>
        </p:spPr>
      </p:sp>
      <p:sp>
        <p:nvSpPr>
          <p:cNvPr id="30" name="Shape 28"/>
          <p:cNvSpPr/>
          <p:nvPr/>
        </p:nvSpPr>
        <p:spPr>
          <a:xfrm>
            <a:off x="2327672" y="3633862"/>
            <a:ext cx="361504" cy="361504"/>
          </a:xfrm>
          <a:prstGeom prst="roundRect">
            <a:avLst>
              <a:gd name="adj" fmla="val 158090"/>
            </a:avLst>
          </a:prstGeom>
          <a:solidFill>
            <a:srgbClr val="E851B2"/>
          </a:solidFill>
          <a:ln/>
        </p:spPr>
      </p:sp>
      <p:sp>
        <p:nvSpPr>
          <p:cNvPr id="31" name="Text 29"/>
          <p:cNvSpPr/>
          <p:nvPr/>
        </p:nvSpPr>
        <p:spPr>
          <a:xfrm>
            <a:off x="2436093" y="3724201"/>
            <a:ext cx="144587" cy="180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882" y="4115842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Share Location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0882" y="4365501"/>
            <a:ext cx="375515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GPS module sends live location data.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23197" y="3814614"/>
            <a:ext cx="4024685" cy="863947"/>
          </a:xfrm>
          <a:prstGeom prst="roundRect">
            <a:avLst>
              <a:gd name="adj" fmla="val 793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DFB8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23197" y="3800326"/>
            <a:ext cx="4024685" cy="57150"/>
          </a:xfrm>
          <a:prstGeom prst="roundRect">
            <a:avLst>
              <a:gd name="adj" fmla="val 10000"/>
            </a:avLst>
          </a:prstGeom>
          <a:solidFill>
            <a:srgbClr val="E851B2"/>
          </a:solidFill>
          <a:ln/>
        </p:spPr>
      </p:sp>
      <p:sp>
        <p:nvSpPr>
          <p:cNvPr id="36" name="Shape 34"/>
          <p:cNvSpPr/>
          <p:nvPr/>
        </p:nvSpPr>
        <p:spPr>
          <a:xfrm>
            <a:off x="6454750" y="3633862"/>
            <a:ext cx="361504" cy="361504"/>
          </a:xfrm>
          <a:prstGeom prst="roundRect">
            <a:avLst>
              <a:gd name="adj" fmla="val 158090"/>
            </a:avLst>
          </a:prstGeom>
          <a:solidFill>
            <a:srgbClr val="E851B2"/>
          </a:solidFill>
          <a:ln/>
        </p:spPr>
      </p:sp>
      <p:sp>
        <p:nvSpPr>
          <p:cNvPr id="37" name="Text 35"/>
          <p:cNvSpPr/>
          <p:nvPr/>
        </p:nvSpPr>
        <p:spPr>
          <a:xfrm>
            <a:off x="6563171" y="3724201"/>
            <a:ext cx="144587" cy="180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7961" y="4115842"/>
            <a:ext cx="2658591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Make Users Safer and More Independent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57961" y="4365501"/>
            <a:ext cx="3755157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Help users rely less on caregivers and feel more confident.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6115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Components Used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90985"/>
            <a:ext cx="3905845" cy="221329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68082" y="1247626"/>
            <a:ext cx="2684487" cy="3100090"/>
          </a:xfrm>
          <a:prstGeom prst="roundRect">
            <a:avLst>
              <a:gd name="adj" fmla="val 21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72845" y="1252389"/>
            <a:ext cx="2674962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079182" y="1304925"/>
            <a:ext cx="1312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51489" y="1304925"/>
            <a:ext cx="184725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972845" y="1506289"/>
            <a:ext cx="2674962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079182" y="1558826"/>
            <a:ext cx="1312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Arduino Uno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51489" y="1558826"/>
            <a:ext cx="184725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 controller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972845" y="1760190"/>
            <a:ext cx="2674962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079182" y="1812727"/>
            <a:ext cx="1312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HC-SR04 ×2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151489" y="1812727"/>
            <a:ext cx="184725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Finds obstacles and drops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72845" y="2014091"/>
            <a:ext cx="2674962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079182" y="2066627"/>
            <a:ext cx="1312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 Sensors ×2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151489" y="2066627"/>
            <a:ext cx="184725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Finds side obstacles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972845" y="2267992"/>
            <a:ext cx="2674962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079182" y="2320528"/>
            <a:ext cx="1312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Water Sensor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151489" y="2320528"/>
            <a:ext cx="184725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Detects puddles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972845" y="2521893"/>
            <a:ext cx="2674962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079182" y="2574429"/>
            <a:ext cx="1312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NEO-6M GPS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151489" y="2574429"/>
            <a:ext cx="184725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Tracks location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972845" y="2775793"/>
            <a:ext cx="2674962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079182" y="2828330"/>
            <a:ext cx="1312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Piezo Buzzer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151489" y="2828330"/>
            <a:ext cx="184725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Makes sound alerts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972845" y="3029694"/>
            <a:ext cx="2674962" cy="2539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079182" y="3082230"/>
            <a:ext cx="1312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Vibration Motor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151489" y="3082230"/>
            <a:ext cx="184725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Gives haptic alerts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972845" y="3283595"/>
            <a:ext cx="2674962" cy="4027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6079182" y="3336131"/>
            <a:ext cx="85501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S8050 Transistor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151489" y="3336131"/>
            <a:ext cx="184725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Controls the motor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972845" y="3686324"/>
            <a:ext cx="2674962" cy="4027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6079182" y="3738860"/>
            <a:ext cx="1312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Push Button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151489" y="3738860"/>
            <a:ext cx="139005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Turns the system on and off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972845" y="4089053"/>
            <a:ext cx="2674962" cy="2539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6079182" y="4141589"/>
            <a:ext cx="131221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9V Battery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151489" y="4141589"/>
            <a:ext cx="184725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Powers the system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4184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029965"/>
            <a:ext cx="86089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layers of sensors send data to the Arduino. It then turns on alerts and saves the GPS location.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97273"/>
            <a:ext cx="3150022" cy="315002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397273"/>
            <a:ext cx="3150022" cy="315002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15098" y="2396282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Signal Flow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15098" y="2664172"/>
            <a:ext cx="3937546" cy="943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Sensors keep checking around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Arduino looks at the readings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Alerts switch on fast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 location updates by itself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9V battery powers everything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0686"/>
            <a:ext cx="364695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Circuit Diagram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19039"/>
            <a:ext cx="860896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wiring for the Smart Blind Stick prototype.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04292" y="1442145"/>
            <a:ext cx="5796483" cy="3210595"/>
          </a:xfrm>
          <a:prstGeom prst="roundRect">
            <a:avLst>
              <a:gd name="adj" fmla="val 596"/>
            </a:avLst>
          </a:prstGeom>
          <a:solidFill>
            <a:srgbClr val="F2DED0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1837" y="1571327"/>
            <a:ext cx="5541392" cy="2952229"/>
          </a:xfrm>
          <a:prstGeom prst="roundRect">
            <a:avLst>
              <a:gd name="adj" fmla="val 194"/>
            </a:avLst>
          </a:prstGeom>
          <a:solidFill>
            <a:srgbClr val="F6BBE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83" y="1757214"/>
            <a:ext cx="159469" cy="12754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98" y="1717997"/>
            <a:ext cx="3918942" cy="26126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4910" y="1556965"/>
            <a:ext cx="20520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Connections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424910" y="1871067"/>
            <a:ext cx="2227659" cy="113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 power → Arduino 5V line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Trigger/Echo pins → Digital pins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Buzzer → output pin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Motor → S8050 driver part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 TX → Arduino RX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2976"/>
            <a:ext cx="3824139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Working Methodology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49697"/>
            <a:ext cx="860896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firmware keeps running all the time. It checks the sensors and sends alerts fast when it spots danger.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13" y="1503685"/>
            <a:ext cx="7496101" cy="28128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52066" y="3633691"/>
            <a:ext cx="1359224" cy="21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GPS Log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55770" y="3524791"/>
            <a:ext cx="1130624" cy="43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Generate Alert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810018" y="3633691"/>
            <a:ext cx="1359224" cy="21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Arduino Logic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392866" y="3633691"/>
            <a:ext cx="1359224" cy="21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Hazard Detect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44738" y="3633691"/>
            <a:ext cx="1359224" cy="21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Sensor Poll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96119" y="4460453"/>
            <a:ext cx="860896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checks run in a non-blocking loop. That means the system stays responsive even while GPS updates are still loading.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4254"/>
            <a:ext cx="449728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Implementation &amp; Testing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0075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checked each part on its own first. Then we connected everything.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87042"/>
            <a:ext cx="838200" cy="5179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9822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Ultrasonic Sensors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288729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front sensor finds things in the way. The lower sensor spots holes.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287042"/>
            <a:ext cx="838200" cy="5179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78298" y="29822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Water Detection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578298" y="3288729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sensor warns before the device touches water.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2287042"/>
            <a:ext cx="838200" cy="5179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0553" y="29822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IR Side Sensors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660553" y="3288729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sensors notice things nearby on the sides.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287042"/>
            <a:ext cx="838200" cy="5179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42807" y="29822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GPS Tracking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742807" y="3288729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GPS sends location details through a serial link.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3522"/>
            <a:ext cx="585661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Results, Advantages &amp; Limitations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70868"/>
            <a:ext cx="22292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✅</a:t>
            </a:r>
            <a:r>
              <a:rPr lang="en-US" sz="135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Verified Results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43608"/>
            <a:ext cx="390294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Obstacle detection: works from </a:t>
            </a:r>
            <a:r>
              <a:rPr lang="en-US" sz="1100" b="1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2–400 cm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Water detection: alerts right away when it touches water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Pit detection: the lower sensor works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 coordinates: saved in the serial monitor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Dual alerts: buzzer and vibration both 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544491"/>
            <a:ext cx="22292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✅</a:t>
            </a:r>
            <a:r>
              <a:rPr lang="en-US" sz="135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Key Advantages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917231"/>
            <a:ext cx="390294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Cheap, easy to carry, and simple to use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Finds more than one danger at the same 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470868"/>
            <a:ext cx="2242319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⚠️</a:t>
            </a:r>
            <a:r>
              <a:rPr lang="en-US" sz="135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Current Limitations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1843608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 accuracy depends on signal quality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9V battery limits how long it can run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voice help or phone alerts yet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49701" y="2782639"/>
            <a:ext cx="3902943" cy="1056010"/>
          </a:xfrm>
          <a:prstGeom prst="roundRect">
            <a:avLst>
              <a:gd name="adj" fmla="val 541"/>
            </a:avLst>
          </a:prstGeom>
          <a:solidFill>
            <a:srgbClr val="B6D6F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60" y="2997696"/>
            <a:ext cx="177180" cy="1417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10398" y="2959819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the main checking and alert features worked well. These limits will be improved later.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23639"/>
            <a:ext cx="4401815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88379" y="1085850"/>
            <a:ext cx="8624441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Smart Blind Stick shows that simple, low-cost tools can help keep people with vision loss safer in real time.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88379" y="1430536"/>
            <a:ext cx="4021634" cy="761256"/>
          </a:xfrm>
          <a:prstGeom prst="roundRect">
            <a:avLst>
              <a:gd name="adj" fmla="val 751"/>
            </a:avLst>
          </a:prstGeom>
          <a:solidFill>
            <a:srgbClr val="F9D2EB"/>
          </a:solidFill>
          <a:ln w="4763">
            <a:solidFill>
              <a:srgbClr val="DFB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5673" y="1567830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GSM SOS Alerts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5673" y="1849264"/>
            <a:ext cx="3747046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Emergency messages to caregivers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3987" y="1430536"/>
            <a:ext cx="4021634" cy="761256"/>
          </a:xfrm>
          <a:prstGeom prst="roundRect">
            <a:avLst>
              <a:gd name="adj" fmla="val 751"/>
            </a:avLst>
          </a:prstGeom>
          <a:solidFill>
            <a:srgbClr val="F9D2EB"/>
          </a:solidFill>
          <a:ln w="4763">
            <a:solidFill>
              <a:srgbClr val="DFB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1281" y="1567830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Voice Navigation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71281" y="1849264"/>
            <a:ext cx="3747046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Spoken hazard alerts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8379" y="2315766"/>
            <a:ext cx="4021634" cy="761256"/>
          </a:xfrm>
          <a:prstGeom prst="roundRect">
            <a:avLst>
              <a:gd name="adj" fmla="val 751"/>
            </a:avLst>
          </a:prstGeom>
          <a:solidFill>
            <a:srgbClr val="F9D2EB"/>
          </a:solidFill>
          <a:ln w="4763">
            <a:solidFill>
              <a:srgbClr val="DFB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673" y="2453060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5673" y="2734494"/>
            <a:ext cx="3747046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location tracking and alerts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33987" y="2315766"/>
            <a:ext cx="4021634" cy="761256"/>
          </a:xfrm>
          <a:prstGeom prst="roundRect">
            <a:avLst>
              <a:gd name="adj" fmla="val 751"/>
            </a:avLst>
          </a:prstGeom>
          <a:solidFill>
            <a:srgbClr val="F9D2EB"/>
          </a:solidFill>
          <a:ln w="4763">
            <a:solidFill>
              <a:srgbClr val="DFB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1281" y="2453060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ESP32 Upgrade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71281" y="2734494"/>
            <a:ext cx="3747046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Better wireless support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8379" y="3200995"/>
            <a:ext cx="4021634" cy="761256"/>
          </a:xfrm>
          <a:prstGeom prst="roundRect">
            <a:avLst>
              <a:gd name="adj" fmla="val 751"/>
            </a:avLst>
          </a:prstGeom>
          <a:solidFill>
            <a:srgbClr val="F9D2EB"/>
          </a:solidFill>
          <a:ln w="4763">
            <a:solidFill>
              <a:srgbClr val="DFB8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673" y="3338289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Camera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5673" y="3619723"/>
            <a:ext cx="3747046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 detection with smart processing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3987" y="3200995"/>
            <a:ext cx="4021634" cy="761256"/>
          </a:xfrm>
          <a:prstGeom prst="roundRect">
            <a:avLst>
              <a:gd name="adj" fmla="val 751"/>
            </a:avLst>
          </a:prstGeom>
          <a:solidFill>
            <a:srgbClr val="F9D2EB"/>
          </a:solidFill>
          <a:ln w="4763">
            <a:solidFill>
              <a:srgbClr val="DFB8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1281" y="3338289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32338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Cloud Tracking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71281" y="3619723"/>
            <a:ext cx="3747046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323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Remote monitoring dashboard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8379" y="4148212"/>
            <a:ext cx="5030986" cy="57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371A2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Thank You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Microsoft Office PowerPoint</Application>
  <PresentationFormat>On-screen Show (16:9)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Barlow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krishna agrawal</cp:lastModifiedBy>
  <cp:revision>2</cp:revision>
  <dcterms:created xsi:type="dcterms:W3CDTF">2026-05-25T05:54:05Z</dcterms:created>
  <dcterms:modified xsi:type="dcterms:W3CDTF">2026-05-30T12:23:41Z</dcterms:modified>
</cp:coreProperties>
</file>